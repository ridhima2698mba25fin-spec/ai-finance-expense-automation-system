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5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Instrument Sans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30"/>
    <a:srgbClr val="2C2C2F"/>
    <a:srgbClr val="2B2B2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230" y="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950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11" Type="http://schemas.openxmlformats.org/officeDocument/2006/relationships/image" Target="../media/image4.pn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53354" cy="8229600"/>
          </a:xfrm>
          <a:prstGeom prst="rect">
            <a:avLst/>
          </a:prstGeom>
          <a:solidFill>
            <a:srgbClr val="3D3D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5169"/>
            <a:ext cx="4853354" cy="46272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00683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Expense Tracker Automation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284494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Using </a:t>
            </a:r>
            <a:r>
              <a:rPr lang="en-US" sz="2000" b="1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n8n + Google Forms + Google Sheets</a:t>
            </a:r>
            <a:r>
              <a:rPr lang="en-US" sz="20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build a fully automated employee expense management workflow — from submission to real-time finance alerts.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25157B-9687-D051-C2B6-A07E11B4AC76}"/>
              </a:ext>
            </a:extLst>
          </p:cNvPr>
          <p:cNvSpPr txBox="1"/>
          <p:nvPr/>
        </p:nvSpPr>
        <p:spPr>
          <a:xfrm>
            <a:off x="6008930" y="5266595"/>
            <a:ext cx="40997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Submitted By: </a:t>
            </a:r>
          </a:p>
          <a:p>
            <a:pPr algn="ctr"/>
            <a:r>
              <a:rPr lang="en-IN" sz="3200" b="1" dirty="0">
                <a:solidFill>
                  <a:schemeClr val="bg1"/>
                </a:solidFill>
              </a:rPr>
              <a:t>Niharika (2520982662)</a:t>
            </a:r>
          </a:p>
          <a:p>
            <a:pPr algn="ctr"/>
            <a:r>
              <a:rPr lang="en-IN" sz="3200" b="1" dirty="0">
                <a:solidFill>
                  <a:schemeClr val="bg1"/>
                </a:solidFill>
              </a:rPr>
              <a:t>Akhil (2520982511)</a:t>
            </a:r>
          </a:p>
          <a:p>
            <a:pPr algn="ctr"/>
            <a:r>
              <a:rPr lang="en-IN" sz="3200" b="1" dirty="0">
                <a:solidFill>
                  <a:schemeClr val="bg1"/>
                </a:solidFill>
              </a:rPr>
              <a:t>Harshit (2520982584)</a:t>
            </a:r>
          </a:p>
          <a:p>
            <a:pPr algn="ctr"/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F6CFEC-C9E3-CCB3-00DC-7525AF6D8B4A}"/>
              </a:ext>
            </a:extLst>
          </p:cNvPr>
          <p:cNvSpPr txBox="1"/>
          <p:nvPr/>
        </p:nvSpPr>
        <p:spPr>
          <a:xfrm>
            <a:off x="10355945" y="5266595"/>
            <a:ext cx="35571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Submitted To:</a:t>
            </a:r>
          </a:p>
          <a:p>
            <a:pPr algn="ctr"/>
            <a:r>
              <a:rPr lang="en-IN" sz="3200" b="1" dirty="0">
                <a:solidFill>
                  <a:schemeClr val="bg1"/>
                </a:solidFill>
              </a:rPr>
              <a:t>Lavanaya Srivastava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29F506-11C7-4BE5-60AD-F880EF8A9676}"/>
              </a:ext>
            </a:extLst>
          </p:cNvPr>
          <p:cNvSpPr/>
          <p:nvPr/>
        </p:nvSpPr>
        <p:spPr>
          <a:xfrm>
            <a:off x="12660922" y="7222761"/>
            <a:ext cx="1909187" cy="914400"/>
          </a:xfrm>
          <a:prstGeom prst="rect">
            <a:avLst/>
          </a:prstGeom>
          <a:solidFill>
            <a:srgbClr val="2C2C2F"/>
          </a:solidFill>
          <a:ln>
            <a:solidFill>
              <a:srgbClr val="2C2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2B2B2E"/>
              </a:solidFill>
              <a:highlight>
                <a:srgbClr val="2B2B2E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68CCA-FF8E-AD14-E88F-DBD43842C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4404" y="167129"/>
            <a:ext cx="1057376" cy="842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FCFC30-2C1C-BA02-64F2-FF806AF6ED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14127"/>
            <a:ext cx="4953837" cy="3326005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4972" y="3540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Problem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60982" y="753691"/>
            <a:ext cx="106126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Manual Expense Management Is Broken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59356" y="1785936"/>
            <a:ext cx="6407944" cy="1867019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950688" y="2010131"/>
            <a:ext cx="28978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⏳ Delayed Approvals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93921" y="2450366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Expense claims pile up in inboxes with no clear process for timely review.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7396092" y="1785936"/>
            <a:ext cx="6408063" cy="1886373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9080598" y="20297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📂 Missing Records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676320" y="2627982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Emails get lost, attachments go missing, and audit trails are incomplete.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1032" y="4424367"/>
            <a:ext cx="6407944" cy="1867019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17386" y="47184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✏️ Human Errors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5466" y="5281346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data entry into spreadsheets introduces costly mistakes.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96092" y="4424368"/>
            <a:ext cx="6408063" cy="1867018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377779" y="47184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📉 Poor Visibility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30525" y="5281346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Finance teams lack real-time data, slowing the reimbursement cycle.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523C1C-B696-C92F-98A9-2C7ABB3DA3B0}"/>
              </a:ext>
            </a:extLst>
          </p:cNvPr>
          <p:cNvSpPr/>
          <p:nvPr/>
        </p:nvSpPr>
        <p:spPr>
          <a:xfrm>
            <a:off x="12660922" y="7222761"/>
            <a:ext cx="1909187" cy="914400"/>
          </a:xfrm>
          <a:prstGeom prst="rect">
            <a:avLst/>
          </a:prstGeom>
          <a:solidFill>
            <a:srgbClr val="2C2C2F"/>
          </a:solidFill>
          <a:ln>
            <a:solidFill>
              <a:srgbClr val="2C2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2B2B2E"/>
              </a:solidFill>
              <a:highlight>
                <a:srgbClr val="2B2B2E"/>
              </a:highlight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4D4DE13-BF7B-B42C-9958-25A626C50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4404" y="167129"/>
            <a:ext cx="1057376" cy="8424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0ACDE1B-980B-C105-898C-A75EAC929724}"/>
              </a:ext>
            </a:extLst>
          </p:cNvPr>
          <p:cNvSpPr txBox="1"/>
          <p:nvPr/>
        </p:nvSpPr>
        <p:spPr>
          <a:xfrm>
            <a:off x="12660922" y="7775600"/>
            <a:ext cx="19091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NIHARIKA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221413"/>
            <a:ext cx="3270647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Part A — Workflow Design</a:t>
            </a:r>
            <a:endParaRPr lang="en-US" sz="20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427548" y="656937"/>
            <a:ext cx="10642759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415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Automated Solution: End-to-End Flow</a:t>
            </a:r>
            <a:endParaRPr lang="en-US" sz="4150" dirty="0">
              <a:solidFill>
                <a:schemeClr val="bg1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60" y="1180585"/>
            <a:ext cx="12720995" cy="468944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0829" y="2727562"/>
            <a:ext cx="657085" cy="6570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5376" y="4152437"/>
            <a:ext cx="2168297" cy="35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Check Amount</a:t>
            </a:r>
            <a:endParaRPr lang="en-US" sz="2300" dirty="0">
              <a:solidFill>
                <a:schemeClr val="bg1"/>
              </a:solidFill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75551" y="2532856"/>
            <a:ext cx="657085" cy="6570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73292" y="4178044"/>
            <a:ext cx="1918688" cy="369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Process Data</a:t>
            </a:r>
            <a:endParaRPr lang="en-US" sz="2300" dirty="0">
              <a:solidFill>
                <a:schemeClr val="bg1"/>
              </a:solidFill>
            </a:endParaRPr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0846" y="2635158"/>
            <a:ext cx="657085" cy="65708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29513" y="4136627"/>
            <a:ext cx="1918687" cy="369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n8n Trigger</a:t>
            </a:r>
            <a:endParaRPr lang="en-US" sz="2300" dirty="0">
              <a:solidFill>
                <a:schemeClr val="bg1"/>
              </a:solidFill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3692" y="2635159"/>
            <a:ext cx="657085" cy="65708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511099" y="4163175"/>
            <a:ext cx="2522805" cy="36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Store in Sheets</a:t>
            </a:r>
            <a:endParaRPr lang="en-US" sz="2300" dirty="0">
              <a:solidFill>
                <a:schemeClr val="bg1"/>
              </a:solidFill>
            </a:endParaRPr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42943" y="2710100"/>
            <a:ext cx="657085" cy="65708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303494" y="4136627"/>
            <a:ext cx="1918687" cy="369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Submit</a:t>
            </a:r>
            <a:r>
              <a:rPr lang="en-US" sz="23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en-US" sz="23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Form</a:t>
            </a:r>
            <a:endParaRPr lang="en-US" sz="23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0532A6-6053-0115-219F-12DBB89E87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904" y="4730072"/>
            <a:ext cx="6461565" cy="33965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BFD99BD-D8A6-0C6A-111D-E6A0CE6AC8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7931" y="4736919"/>
            <a:ext cx="6820539" cy="33965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EA3DD49-2966-C574-4140-5E67EFFE5F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84404" y="167129"/>
            <a:ext cx="1057376" cy="8424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E3A707-938B-7E47-311F-45F34C87EE35}"/>
              </a:ext>
            </a:extLst>
          </p:cNvPr>
          <p:cNvSpPr txBox="1"/>
          <p:nvPr/>
        </p:nvSpPr>
        <p:spPr>
          <a:xfrm>
            <a:off x="12958498" y="7862416"/>
            <a:ext cx="19091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NIHARIKA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43203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Part B — Tools Used</a:t>
            </a:r>
            <a:endParaRPr lang="en-US" sz="19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309894" y="791842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Meet the Tech Stack</a:t>
            </a:r>
            <a:endParaRPr lang="en-US" sz="3950" dirty="0">
              <a:solidFill>
                <a:schemeClr val="bg1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993" y="1904286"/>
            <a:ext cx="403979" cy="4039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6993" y="253305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Google Forms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06993" y="2956560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Employee-facing interface for structured, standardized expense submissions — no spreadsheet access needed.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7595" y="1904286"/>
            <a:ext cx="403979" cy="4039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7595" y="253305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Google Sheets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7427595" y="2956560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Acts as the live database, automatically storing every form response in real time with zero manual input.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6993" y="4044316"/>
            <a:ext cx="403979" cy="40397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6993" y="455616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n8n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706993" y="4979670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automation engine — monitors Sheets, processes data, applies logic, and orchestrates the entire workflow.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7595" y="3927396"/>
            <a:ext cx="403979" cy="4039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7595" y="455616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Gmail Node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 9"/>
          <p:cNvSpPr/>
          <p:nvPr/>
        </p:nvSpPr>
        <p:spPr>
          <a:xfrm>
            <a:off x="7427595" y="4979670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Sends formatted email alerts to the finance team whenever a new or high-value expense is submitted.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6993" y="5950506"/>
            <a:ext cx="403979" cy="40397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6993" y="657927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Set Node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 11"/>
          <p:cNvSpPr/>
          <p:nvPr/>
        </p:nvSpPr>
        <p:spPr>
          <a:xfrm>
            <a:off x="706993" y="7002780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Extracts and formats specific data fields from the form response for use downstream in the workflow.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7595" y="5950506"/>
            <a:ext cx="403979" cy="40397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27595" y="657927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If Node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Text 13"/>
          <p:cNvSpPr/>
          <p:nvPr/>
        </p:nvSpPr>
        <p:spPr>
          <a:xfrm>
            <a:off x="7417280" y="6894910"/>
            <a:ext cx="64958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Applies conditional logic — routes the workflow based on whether an expense exceeds the defined threshold.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FC15F8-9F6A-D08A-E895-E21EFAED3147}"/>
              </a:ext>
            </a:extLst>
          </p:cNvPr>
          <p:cNvSpPr/>
          <p:nvPr/>
        </p:nvSpPr>
        <p:spPr>
          <a:xfrm>
            <a:off x="12660922" y="7721679"/>
            <a:ext cx="1909187" cy="415482"/>
          </a:xfrm>
          <a:prstGeom prst="rect">
            <a:avLst/>
          </a:prstGeom>
          <a:solidFill>
            <a:srgbClr val="2C2C2F"/>
          </a:solidFill>
          <a:ln>
            <a:solidFill>
              <a:srgbClr val="2C2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2B2B2E"/>
              </a:solidFill>
              <a:highlight>
                <a:srgbClr val="2B2B2E"/>
              </a:highlight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43091E9-62D8-92FC-23E1-02D7C17C02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84404" y="167129"/>
            <a:ext cx="1057376" cy="8424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0F1DE1-2E84-FCE9-4FD9-F42AC56E1641}"/>
              </a:ext>
            </a:extLst>
          </p:cNvPr>
          <p:cNvSpPr txBox="1"/>
          <p:nvPr/>
        </p:nvSpPr>
        <p:spPr>
          <a:xfrm>
            <a:off x="12530295" y="7729365"/>
            <a:ext cx="2966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NIHARIKA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42211"/>
            <a:ext cx="2328863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Part C — Finance Logic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323737" y="866537"/>
            <a:ext cx="5896928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Expenses Are Classified</a:t>
            </a:r>
            <a:endParaRPr lang="en-US" sz="3400" dirty="0">
              <a:solidFill>
                <a:schemeClr val="bg1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37" y="1758196"/>
            <a:ext cx="5779532" cy="577953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737" y="1758196"/>
            <a:ext cx="5779532" cy="57795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34513" y="2864406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If Node Logic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7534513" y="3268504"/>
            <a:ext cx="577953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Inside n8n, the </a:t>
            </a:r>
            <a:r>
              <a:rPr lang="en-US" sz="13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If Node</a:t>
            </a: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evaluates every submission against a single condition: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7534513" y="3908584"/>
            <a:ext cx="5779532" cy="873204"/>
          </a:xfrm>
          <a:prstGeom prst="roundRect">
            <a:avLst>
              <a:gd name="adj" fmla="val 8353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106" y="4156472"/>
            <a:ext cx="217051" cy="1735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8750" y="4084796"/>
            <a:ext cx="504170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Expense Amount &gt; ₹5,000</a:t>
            </a: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→ Route to HIGH expense branch and trigger a priority alert email to the finance team.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7534513" y="4931331"/>
            <a:ext cx="5779532" cy="873204"/>
          </a:xfrm>
          <a:prstGeom prst="roundRect">
            <a:avLst>
              <a:gd name="adj" fmla="val 8353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106" y="5179219"/>
            <a:ext cx="217051" cy="1735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98750" y="5107543"/>
            <a:ext cx="504170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Expense Amount ≤ ₹5,000</a:t>
            </a:r>
            <a:r>
              <a:rPr lang="en-US" sz="13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→ Route to NORMAL expense branch and log with a standard notification.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534513" y="5954078"/>
            <a:ext cx="577953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ensures high-value claims receive immediate human attention while routine claims are processed without delay.</a:t>
            </a:r>
            <a:endParaRPr lang="en-US" sz="13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868E41-D15E-6F0E-7105-1341160FA2D3}"/>
              </a:ext>
            </a:extLst>
          </p:cNvPr>
          <p:cNvSpPr/>
          <p:nvPr/>
        </p:nvSpPr>
        <p:spPr>
          <a:xfrm>
            <a:off x="12660922" y="7222761"/>
            <a:ext cx="1909187" cy="914400"/>
          </a:xfrm>
          <a:prstGeom prst="rect">
            <a:avLst/>
          </a:prstGeom>
          <a:solidFill>
            <a:srgbClr val="2C2C2F"/>
          </a:solidFill>
          <a:ln>
            <a:solidFill>
              <a:srgbClr val="2C2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2B2B2E"/>
              </a:solidFill>
              <a:highlight>
                <a:srgbClr val="2B2B2E"/>
              </a:highligh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D6E384-6493-33BE-5D95-7DC980FD0B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84404" y="167129"/>
            <a:ext cx="1057376" cy="842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8D5A46F-2C14-71FC-9BA3-4AA85D1FF095}"/>
              </a:ext>
            </a:extLst>
          </p:cNvPr>
          <p:cNvSpPr txBox="1"/>
          <p:nvPr/>
        </p:nvSpPr>
        <p:spPr>
          <a:xfrm>
            <a:off x="12530295" y="7729365"/>
            <a:ext cx="2966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AKHIL</a:t>
            </a: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6194" y="416793"/>
            <a:ext cx="42463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Part D — Output Demonstration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798625" y="767097"/>
            <a:ext cx="99827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the System Looks Like in Action</a:t>
            </a:r>
            <a:endParaRPr lang="en-US" sz="4450" dirty="0">
              <a:solidFill>
                <a:schemeClr val="bg1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5" y="1475876"/>
            <a:ext cx="2194560" cy="13562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2629" y="28666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Google Form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446247" y="3359586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Employee fills in name, department, amount, and category. Clean, guided, and accessible on any device.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2201" y="1519764"/>
            <a:ext cx="2194560" cy="13562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04940" y="28597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Google Sheet Entries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3728038" y="324633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submission populates a new row instantly — timestamped, labeled, and ready for finance review.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3284" y="1489669"/>
            <a:ext cx="2194560" cy="13562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25772" y="2858504"/>
            <a:ext cx="28977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n8n Workflow Canvas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7150583" y="3251585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visual workflow shows triggers, Set nodes, If nodes, and Gmail nodes connected in a clear automation chain.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1356" y="1473221"/>
            <a:ext cx="2194560" cy="135624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87524" y="28185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Email Notification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5" name="Text 9"/>
          <p:cNvSpPr/>
          <p:nvPr/>
        </p:nvSpPr>
        <p:spPr>
          <a:xfrm>
            <a:off x="10573128" y="3178134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Finance receives a formatted alert with employee name, amount, and expense category — instantly, every time.</a:t>
            </a:r>
            <a:endParaRPr lang="en-US" sz="175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00AB73-C450-48A2-8ABA-CC8583E289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949792"/>
            <a:ext cx="6953458" cy="32798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FB0183-574E-4580-FB71-35CA5A92A3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3284" y="4992646"/>
            <a:ext cx="7257115" cy="323695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DF90FD1-C117-176B-1B9E-D162635849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84404" y="167129"/>
            <a:ext cx="1057376" cy="8424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5742654-4DC8-C8A9-0B91-E812A103DC07}"/>
              </a:ext>
            </a:extLst>
          </p:cNvPr>
          <p:cNvSpPr txBox="1"/>
          <p:nvPr/>
        </p:nvSpPr>
        <p:spPr>
          <a:xfrm>
            <a:off x="12731263" y="7929420"/>
            <a:ext cx="2966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AKHIL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3D3D4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3" y="575310"/>
            <a:ext cx="5309235" cy="70789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06597" y="554236"/>
            <a:ext cx="274224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Part E — Business Benefits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106597" y="886420"/>
            <a:ext cx="7903607" cy="1107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Automation Transforms Finance Operations</a:t>
            </a:r>
            <a:endParaRPr lang="en-US" sz="3450" dirty="0">
              <a:solidFill>
                <a:schemeClr val="bg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106597" y="2201585"/>
            <a:ext cx="7903607" cy="1264682"/>
          </a:xfrm>
          <a:prstGeom prst="roundRect">
            <a:avLst>
              <a:gd name="adj" fmla="val 8676"/>
            </a:avLst>
          </a:prstGeom>
          <a:solidFill>
            <a:srgbClr val="2A2A2D">
              <a:alpha val="95000"/>
            </a:srgbClr>
          </a:solidFill>
          <a:ln w="2286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37" y="2201585"/>
            <a:ext cx="91440" cy="12646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75202" y="2401610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⚡ Faster Processing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6375202" y="2761417"/>
            <a:ext cx="743497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Expense claims are captured, classified, and escalated in seconds — not days. Reimbursement cycles shrink dramatically.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6106597" y="3604617"/>
            <a:ext cx="7903607" cy="1264682"/>
          </a:xfrm>
          <a:prstGeom prst="roundRect">
            <a:avLst>
              <a:gd name="adj" fmla="val 8676"/>
            </a:avLst>
          </a:prstGeom>
          <a:solidFill>
            <a:srgbClr val="2A2A2D">
              <a:alpha val="95000"/>
            </a:srgbClr>
          </a:solidFill>
          <a:ln w="2286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37" y="3604617"/>
            <a:ext cx="91440" cy="12646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75202" y="3804642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🎯 Better Control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3" name="Text 8"/>
          <p:cNvSpPr/>
          <p:nvPr/>
        </p:nvSpPr>
        <p:spPr>
          <a:xfrm>
            <a:off x="6375202" y="4164449"/>
            <a:ext cx="743497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If Node ensures no high-value claim slips through unreviewed. Every rupee above ₹5,000 is automatically flagged.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4" name="Shape 9"/>
          <p:cNvSpPr/>
          <p:nvPr/>
        </p:nvSpPr>
        <p:spPr>
          <a:xfrm>
            <a:off x="6106597" y="5007650"/>
            <a:ext cx="7903607" cy="1264682"/>
          </a:xfrm>
          <a:prstGeom prst="roundRect">
            <a:avLst>
              <a:gd name="adj" fmla="val 8676"/>
            </a:avLst>
          </a:prstGeom>
          <a:solidFill>
            <a:srgbClr val="2A2A2D">
              <a:alpha val="95000"/>
            </a:srgbClr>
          </a:solidFill>
          <a:ln w="2286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37" y="5007650"/>
            <a:ext cx="91440" cy="126468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75202" y="5207675"/>
            <a:ext cx="231886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📊 Real-Time Tracking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7" name="Text 11"/>
          <p:cNvSpPr/>
          <p:nvPr/>
        </p:nvSpPr>
        <p:spPr>
          <a:xfrm>
            <a:off x="6375202" y="5567482"/>
            <a:ext cx="743497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Google Sheets serves as a live dashboard — finance managers see every submission the moment it's made.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8" name="Shape 12"/>
          <p:cNvSpPr/>
          <p:nvPr/>
        </p:nvSpPr>
        <p:spPr>
          <a:xfrm>
            <a:off x="6106597" y="6410682"/>
            <a:ext cx="7903607" cy="1264682"/>
          </a:xfrm>
          <a:prstGeom prst="roundRect">
            <a:avLst>
              <a:gd name="adj" fmla="val 8676"/>
            </a:avLst>
          </a:prstGeom>
          <a:solidFill>
            <a:srgbClr val="2A2A2D">
              <a:alpha val="95000"/>
            </a:srgbClr>
          </a:solidFill>
          <a:ln w="2286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737" y="6410682"/>
            <a:ext cx="91440" cy="126468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75202" y="6610707"/>
            <a:ext cx="266473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🤖 Reduced Manual Work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1" name="Text 14"/>
          <p:cNvSpPr/>
          <p:nvPr/>
        </p:nvSpPr>
        <p:spPr>
          <a:xfrm>
            <a:off x="6375202" y="6970514"/>
            <a:ext cx="743497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entry, email follow-ups, and manual categorization are eliminated entirely, freeing staff for higher-value tasks.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CAC0FC-B3A9-F08E-E4B9-4182A6A1908D}"/>
              </a:ext>
            </a:extLst>
          </p:cNvPr>
          <p:cNvSpPr/>
          <p:nvPr/>
        </p:nvSpPr>
        <p:spPr>
          <a:xfrm>
            <a:off x="12660922" y="7675363"/>
            <a:ext cx="1909187" cy="461797"/>
          </a:xfrm>
          <a:prstGeom prst="rect">
            <a:avLst/>
          </a:prstGeom>
          <a:solidFill>
            <a:srgbClr val="2C2C2F"/>
          </a:solidFill>
          <a:ln>
            <a:solidFill>
              <a:srgbClr val="2C2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2B2B2E"/>
              </a:solidFill>
              <a:highlight>
                <a:srgbClr val="2B2B2E"/>
              </a:highlight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28B2BFB-9264-7323-B2BE-7C966B861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4404" y="167129"/>
            <a:ext cx="1057376" cy="8424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15D8934-63A9-8346-0CAC-97177A3E8EC9}"/>
              </a:ext>
            </a:extLst>
          </p:cNvPr>
          <p:cNvSpPr txBox="1"/>
          <p:nvPr/>
        </p:nvSpPr>
        <p:spPr>
          <a:xfrm>
            <a:off x="12530295" y="7729365"/>
            <a:ext cx="2966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AKHIL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6970A3-26D3-0C54-C9C8-2817C96EB653}"/>
              </a:ext>
            </a:extLst>
          </p:cNvPr>
          <p:cNvSpPr/>
          <p:nvPr/>
        </p:nvSpPr>
        <p:spPr>
          <a:xfrm>
            <a:off x="12660922" y="7675363"/>
            <a:ext cx="1909187" cy="461797"/>
          </a:xfrm>
          <a:prstGeom prst="rect">
            <a:avLst/>
          </a:prstGeom>
          <a:solidFill>
            <a:srgbClr val="2C2C2F"/>
          </a:solidFill>
          <a:ln>
            <a:solidFill>
              <a:srgbClr val="2C2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2B2B2E"/>
              </a:solidFill>
              <a:highlight>
                <a:srgbClr val="2B2B2E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F8959-3801-3118-1262-CEB349C8B768}"/>
              </a:ext>
            </a:extLst>
          </p:cNvPr>
          <p:cNvSpPr txBox="1"/>
          <p:nvPr/>
        </p:nvSpPr>
        <p:spPr>
          <a:xfrm>
            <a:off x="12530295" y="7729365"/>
            <a:ext cx="2966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AKHIL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3697D6-0D44-9F6A-9DC7-F0AC9A230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1" y="0"/>
            <a:ext cx="14509818" cy="8229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8151FD-0C92-23B0-770F-4BB5C69D39B7}"/>
              </a:ext>
            </a:extLst>
          </p:cNvPr>
          <p:cNvSpPr txBox="1"/>
          <p:nvPr/>
        </p:nvSpPr>
        <p:spPr>
          <a:xfrm>
            <a:off x="12682695" y="7881765"/>
            <a:ext cx="2966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AKHIL</a:t>
            </a:r>
          </a:p>
        </p:txBody>
      </p:sp>
    </p:spTree>
    <p:extLst>
      <p:ext uri="{BB962C8B-B14F-4D97-AF65-F5344CB8AC3E}">
        <p14:creationId xmlns:p14="http://schemas.microsoft.com/office/powerpoint/2010/main" val="4101690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1204"/>
            <a:ext cx="43063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Comparing the Two Approaches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506260"/>
            <a:ext cx="73605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Before vs. After Automation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555200"/>
            <a:ext cx="13042821" cy="4613196"/>
          </a:xfrm>
          <a:prstGeom prst="roundRect">
            <a:avLst>
              <a:gd name="adj" fmla="val 206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8462" y="2706529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Dimension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1262" y="2706529"/>
            <a:ext cx="39681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Process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760625" y="2706529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Workflow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462" y="3364468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Submission Method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31262" y="3364468"/>
            <a:ext cx="39681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Email / paper form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760625" y="3364468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Google Form (structured)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8462" y="4022408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Storage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331262" y="4022408"/>
            <a:ext cx="39681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spreadsheet entry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760625" y="4022408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Auto-populated Google Sheet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28462" y="4680347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High-Value Flagging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331262" y="4680347"/>
            <a:ext cx="39681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Depends on reviewer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760625" y="4680347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Automatic via If Node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028462" y="5338286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Finance Notification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5331262" y="5338286"/>
            <a:ext cx="39681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email, often delayed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760625" y="5338286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Instant Gmail alert via n8n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28462" y="5996226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Error Rate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5331262" y="5996226"/>
            <a:ext cx="39681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(human entry)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9760625" y="5996226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Near zero (system-driven)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28462" y="6654165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Processing Speed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5331262" y="6654165"/>
            <a:ext cx="39681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Days to weeks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9760625" y="6654165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Seconds to minutes</a:t>
            </a:r>
            <a:endParaRPr lang="en-US" sz="17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E93463-C517-EC97-68DB-7D4A5DA434DA}"/>
              </a:ext>
            </a:extLst>
          </p:cNvPr>
          <p:cNvSpPr/>
          <p:nvPr/>
        </p:nvSpPr>
        <p:spPr>
          <a:xfrm>
            <a:off x="12660922" y="7222761"/>
            <a:ext cx="1909187" cy="914400"/>
          </a:xfrm>
          <a:prstGeom prst="rect">
            <a:avLst/>
          </a:prstGeom>
          <a:solidFill>
            <a:srgbClr val="2C2C2F"/>
          </a:solidFill>
          <a:ln>
            <a:solidFill>
              <a:srgbClr val="2C2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2B2B2E"/>
              </a:solidFill>
              <a:highlight>
                <a:srgbClr val="2B2B2E"/>
              </a:highlight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56F982A-0ED0-5761-BAE0-33F932408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4404" y="167129"/>
            <a:ext cx="1057376" cy="84245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CFD6642-7B78-B63F-8A21-A744BD7BDC7A}"/>
              </a:ext>
            </a:extLst>
          </p:cNvPr>
          <p:cNvSpPr txBox="1"/>
          <p:nvPr/>
        </p:nvSpPr>
        <p:spPr>
          <a:xfrm>
            <a:off x="12882017" y="7679961"/>
            <a:ext cx="1909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HARSHIT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36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Summary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2687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Takeaways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317671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8224" y="25521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🔗 Connected Tools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28224" y="304252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Google Forms + Sheets + n8n + Gmail form one seamless, no-code automation pipeline.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8548" y="2317671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662982" y="25521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🧠 Smart Logic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662982" y="3042523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If Node classifies every expense automatically — high-value claims are never missed.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3790" y="4229576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28224" y="4464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📬 Instant Alerts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8224" y="495442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Finance teams get real-time email notifications the moment a new expense is submitted.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428548" y="4229576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662982" y="4464010"/>
            <a:ext cx="30214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🚀 Real Business Value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62982" y="495442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Faster reimbursements, fewer errors, and full visibility — automation pays for itself immediately.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33951" y="6424970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workflow is not just a student project — it's a production-ready automation pattern used by finance teams worldwide. Understanding it puts you ahead of the curve.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3790" y="6169819"/>
            <a:ext cx="30480" cy="1236107"/>
          </a:xfrm>
          <a:prstGeom prst="rect">
            <a:avLst/>
          </a:prstGeom>
          <a:solidFill>
            <a:srgbClr val="D5D5D8"/>
          </a:solidFill>
          <a:ln/>
        </p:spPr>
        <p:txBody>
          <a:bodyPr/>
          <a:lstStyle/>
          <a:p>
            <a:endParaRPr lang="en-IN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1A6C82-3575-942E-3184-1677AE000F15}"/>
              </a:ext>
            </a:extLst>
          </p:cNvPr>
          <p:cNvSpPr/>
          <p:nvPr/>
        </p:nvSpPr>
        <p:spPr>
          <a:xfrm>
            <a:off x="12660922" y="7222761"/>
            <a:ext cx="1909187" cy="914400"/>
          </a:xfrm>
          <a:prstGeom prst="rect">
            <a:avLst/>
          </a:prstGeom>
          <a:solidFill>
            <a:srgbClr val="2C2C2F"/>
          </a:solidFill>
          <a:ln>
            <a:solidFill>
              <a:srgbClr val="2C2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2B2B2E"/>
              </a:solidFill>
              <a:highlight>
                <a:srgbClr val="2B2B2E"/>
              </a:highlight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E0585B5-CD85-CDD7-D162-083E89EF2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4404" y="167129"/>
            <a:ext cx="1057376" cy="8424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3775033-575B-388F-F0C8-112B6A299F3D}"/>
              </a:ext>
            </a:extLst>
          </p:cNvPr>
          <p:cNvSpPr txBox="1"/>
          <p:nvPr/>
        </p:nvSpPr>
        <p:spPr>
          <a:xfrm>
            <a:off x="12882017" y="7679961"/>
            <a:ext cx="1909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HARSHIT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745</Words>
  <Application>Microsoft Office PowerPoint</Application>
  <PresentationFormat>Custom</PresentationFormat>
  <Paragraphs>119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Instrument Sans Semi Bold</vt:lpstr>
      <vt:lpstr>Instrument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Niharika Gupta</dc:creator>
  <cp:lastModifiedBy>Niharika Gupta</cp:lastModifiedBy>
  <cp:revision>4</cp:revision>
  <dcterms:created xsi:type="dcterms:W3CDTF">2026-04-29T16:04:44Z</dcterms:created>
  <dcterms:modified xsi:type="dcterms:W3CDTF">2026-04-30T05:03:26Z</dcterms:modified>
</cp:coreProperties>
</file>